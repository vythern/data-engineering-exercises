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Raleway"/>
      <p:regular r:id="rId9"/>
      <p:bold r:id="rId10"/>
      <p:italic r:id="rId11"/>
      <p:boldItalic r:id="rId12"/>
    </p:embeddedFont>
    <p:embeddedFont>
      <p:font typeface="La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aleway-italic.fntdata"/><Relationship Id="rId10" Type="http://schemas.openxmlformats.org/officeDocument/2006/relationships/font" Target="fonts/Raleway-bold.fntdata"/><Relationship Id="rId13" Type="http://schemas.openxmlformats.org/officeDocument/2006/relationships/font" Target="fonts/Lato-regular.fntdata"/><Relationship Id="rId12" Type="http://schemas.openxmlformats.org/officeDocument/2006/relationships/font" Target="fonts/Raleway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aleway-regular.fntdata"/><Relationship Id="rId15" Type="http://schemas.openxmlformats.org/officeDocument/2006/relationships/font" Target="fonts/Lato-italic.fntdata"/><Relationship Id="rId14" Type="http://schemas.openxmlformats.org/officeDocument/2006/relationships/font" Target="fonts/Lato-bold.fntdata"/><Relationship Id="rId16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b9a0b07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b9a0b0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d5b15f0a3_5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d5b15f0a3_5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03fba3893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f03fba389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353535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Repartitions</a:t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1027425" y="1081700"/>
            <a:ext cx="6331500" cy="267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*Re-distribute data across partitions</a:t>
            </a:r>
            <a:endParaRPr b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*Partitions are processed in parallel</a:t>
            </a:r>
            <a:endParaRPr b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*Spark decides how data is split by default, but not always optimally</a:t>
            </a:r>
            <a:endParaRPr b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idx="4294967295" type="title"/>
          </p:nvPr>
        </p:nvSpPr>
        <p:spPr>
          <a:xfrm>
            <a:off x="0" y="106475"/>
            <a:ext cx="5197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Working with Repartitions Examples</a:t>
            </a:r>
            <a:endParaRPr sz="2400"/>
          </a:p>
        </p:txBody>
      </p:sp>
      <p:sp>
        <p:nvSpPr>
          <p:cNvPr id="79" name="Google Shape;79;p14"/>
          <p:cNvSpPr txBox="1"/>
          <p:nvPr>
            <p:ph idx="4294967295" type="title"/>
          </p:nvPr>
        </p:nvSpPr>
        <p:spPr>
          <a:xfrm>
            <a:off x="535775" y="1480150"/>
            <a:ext cx="5197200" cy="30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Created in partnership with Chip and Dan Heath, authors of the bestselling book Made To Stick, this template advises users on how to build and deliver a memorable presentation of a new product, service, or idea.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0" name="Google Shape;80;p14" title="example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900" y="1701350"/>
            <a:ext cx="5056975" cy="2431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4" title="example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1771" y="1703525"/>
            <a:ext cx="5015329" cy="243195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4"/>
          <p:cNvSpPr txBox="1"/>
          <p:nvPr/>
        </p:nvSpPr>
        <p:spPr>
          <a:xfrm>
            <a:off x="48475" y="1241825"/>
            <a:ext cx="425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7474F"/>
                </a:solidFill>
                <a:latin typeface="Lato"/>
                <a:ea typeface="Lato"/>
                <a:cs typeface="Lato"/>
                <a:sym typeface="Lato"/>
              </a:rPr>
              <a:t>Example 1:  No partitions</a:t>
            </a:r>
            <a:endParaRPr sz="1800">
              <a:solidFill>
                <a:srgbClr val="37474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3" name="Google Shape;83;p14"/>
          <p:cNvSpPr txBox="1"/>
          <p:nvPr/>
        </p:nvSpPr>
        <p:spPr>
          <a:xfrm>
            <a:off x="4212925" y="1241825"/>
            <a:ext cx="425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7474F"/>
                </a:solidFill>
                <a:latin typeface="Lato"/>
                <a:ea typeface="Lato"/>
                <a:cs typeface="Lato"/>
                <a:sym typeface="Lato"/>
              </a:rPr>
              <a:t>Example 2:  With repartition</a:t>
            </a:r>
            <a:endParaRPr sz="1800">
              <a:solidFill>
                <a:srgbClr val="37474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/>
          <p:nvPr>
            <p:ph type="ctrTitle"/>
          </p:nvPr>
        </p:nvSpPr>
        <p:spPr>
          <a:xfrm>
            <a:off x="2342175" y="622850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Concerns / Use Cases</a:t>
            </a:r>
            <a:endParaRPr/>
          </a:p>
        </p:txBody>
      </p:sp>
      <p:sp>
        <p:nvSpPr>
          <p:cNvPr id="89" name="Google Shape;89;p15"/>
          <p:cNvSpPr txBox="1"/>
          <p:nvPr>
            <p:ph idx="1" type="subTitle"/>
          </p:nvPr>
        </p:nvSpPr>
        <p:spPr>
          <a:xfrm>
            <a:off x="281675" y="1753625"/>
            <a:ext cx="6331500" cy="267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*Repartition takes time in and of itself</a:t>
            </a:r>
            <a:endParaRPr b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*Repartition involves a full shuffle</a:t>
            </a:r>
            <a:endParaRPr b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*Not always faster</a:t>
            </a:r>
            <a:endParaRPr b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/>
          </a:p>
        </p:txBody>
      </p:sp>
      <p:pic>
        <p:nvPicPr>
          <p:cNvPr id="90" name="Google Shape;90;p15" title="imbalanc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9775" y="1577250"/>
            <a:ext cx="3272625" cy="2975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